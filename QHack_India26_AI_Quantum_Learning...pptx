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BM Plex Sans" panose="020B0604020202020204" pitchFamily="34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37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140647" y="2730987"/>
            <a:ext cx="5634028" cy="6185198"/>
            <a:chOff x="0" y="0"/>
            <a:chExt cx="15229294" cy="167191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29332" cy="16719131"/>
            </a:xfrm>
            <a:custGeom>
              <a:avLst/>
              <a:gdLst/>
              <a:ahLst/>
              <a:cxnLst/>
              <a:rect l="l" t="t" r="r" b="b"/>
              <a:pathLst>
                <a:path w="15229332" h="16719131">
                  <a:moveTo>
                    <a:pt x="1287347" y="0"/>
                  </a:moveTo>
                  <a:lnTo>
                    <a:pt x="13941985" y="0"/>
                  </a:lnTo>
                  <a:cubicBezTo>
                    <a:pt x="14283410" y="0"/>
                    <a:pt x="14610852" y="135631"/>
                    <a:pt x="14852276" y="377055"/>
                  </a:cubicBezTo>
                  <a:cubicBezTo>
                    <a:pt x="15093702" y="618480"/>
                    <a:pt x="15229332" y="945922"/>
                    <a:pt x="15229332" y="1287347"/>
                  </a:cubicBezTo>
                  <a:lnTo>
                    <a:pt x="15229332" y="15431784"/>
                  </a:lnTo>
                  <a:cubicBezTo>
                    <a:pt x="15229332" y="15773209"/>
                    <a:pt x="15093702" y="16100651"/>
                    <a:pt x="14852276" y="16342077"/>
                  </a:cubicBezTo>
                  <a:cubicBezTo>
                    <a:pt x="14610852" y="16583501"/>
                    <a:pt x="14283410" y="16719131"/>
                    <a:pt x="13941985" y="16719131"/>
                  </a:cubicBezTo>
                  <a:lnTo>
                    <a:pt x="1287347" y="16719131"/>
                  </a:lnTo>
                  <a:cubicBezTo>
                    <a:pt x="945922" y="16719131"/>
                    <a:pt x="618480" y="16583501"/>
                    <a:pt x="377055" y="16342077"/>
                  </a:cubicBezTo>
                  <a:cubicBezTo>
                    <a:pt x="135631" y="16100651"/>
                    <a:pt x="0" y="15773209"/>
                    <a:pt x="0" y="15431784"/>
                  </a:cubicBezTo>
                  <a:lnTo>
                    <a:pt x="0" y="1287347"/>
                  </a:lnTo>
                  <a:cubicBezTo>
                    <a:pt x="0" y="945922"/>
                    <a:pt x="135631" y="618480"/>
                    <a:pt x="377055" y="377055"/>
                  </a:cubicBezTo>
                  <a:cubicBezTo>
                    <a:pt x="618480" y="135631"/>
                    <a:pt x="945922" y="0"/>
                    <a:pt x="1287347" y="0"/>
                  </a:cubicBezTo>
                  <a:close/>
                </a:path>
              </a:pathLst>
            </a:custGeom>
            <a:blipFill>
              <a:blip r:embed="rId3"/>
              <a:stretch>
                <a:fillRect t="-67" b="-67"/>
              </a:stretch>
            </a:blipFill>
            <a:ln w="38100" cap="rnd">
              <a:solidFill>
                <a:srgbClr val="471B2B"/>
              </a:solidFill>
              <a:prstDash val="solid"/>
              <a:round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554011" y="1808824"/>
            <a:ext cx="5931138" cy="1977046"/>
          </a:xfrm>
          <a:custGeom>
            <a:avLst/>
            <a:gdLst/>
            <a:ahLst/>
            <a:cxnLst/>
            <a:rect l="l" t="t" r="r" b="b"/>
            <a:pathLst>
              <a:path w="5931138" h="1977046">
                <a:moveTo>
                  <a:pt x="0" y="0"/>
                </a:moveTo>
                <a:lnTo>
                  <a:pt x="5931138" y="0"/>
                </a:lnTo>
                <a:lnTo>
                  <a:pt x="5931138" y="1977046"/>
                </a:lnTo>
                <a:lnTo>
                  <a:pt x="0" y="1977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491128" y="4301489"/>
            <a:ext cx="3086100" cy="613411"/>
            <a:chOff x="0" y="0"/>
            <a:chExt cx="812800" cy="1615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61557"/>
            </a:xfrm>
            <a:custGeom>
              <a:avLst/>
              <a:gdLst/>
              <a:ahLst/>
              <a:cxnLst/>
              <a:rect l="l" t="t" r="r" b="b"/>
              <a:pathLst>
                <a:path w="812800" h="161557">
                  <a:moveTo>
                    <a:pt x="80778" y="0"/>
                  </a:moveTo>
                  <a:lnTo>
                    <a:pt x="732022" y="0"/>
                  </a:lnTo>
                  <a:cubicBezTo>
                    <a:pt x="776634" y="0"/>
                    <a:pt x="812800" y="36166"/>
                    <a:pt x="812800" y="80778"/>
                  </a:cubicBezTo>
                  <a:lnTo>
                    <a:pt x="812800" y="80778"/>
                  </a:lnTo>
                  <a:cubicBezTo>
                    <a:pt x="812800" y="102202"/>
                    <a:pt x="804289" y="122749"/>
                    <a:pt x="789141" y="137897"/>
                  </a:cubicBezTo>
                  <a:cubicBezTo>
                    <a:pt x="773992" y="153046"/>
                    <a:pt x="753445" y="161557"/>
                    <a:pt x="732022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12800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1128" y="5253037"/>
            <a:ext cx="4142956" cy="613411"/>
            <a:chOff x="0" y="0"/>
            <a:chExt cx="1091149" cy="1615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1149" cy="161557"/>
            </a:xfrm>
            <a:custGeom>
              <a:avLst/>
              <a:gdLst/>
              <a:ahLst/>
              <a:cxnLst/>
              <a:rect l="l" t="t" r="r" b="b"/>
              <a:pathLst>
                <a:path w="1091149" h="161557">
                  <a:moveTo>
                    <a:pt x="80778" y="0"/>
                  </a:moveTo>
                  <a:lnTo>
                    <a:pt x="1010370" y="0"/>
                  </a:lnTo>
                  <a:cubicBezTo>
                    <a:pt x="1054983" y="0"/>
                    <a:pt x="1091149" y="36166"/>
                    <a:pt x="1091149" y="80778"/>
                  </a:cubicBezTo>
                  <a:lnTo>
                    <a:pt x="1091149" y="80778"/>
                  </a:lnTo>
                  <a:cubicBezTo>
                    <a:pt x="1091149" y="102202"/>
                    <a:pt x="1082638" y="122749"/>
                    <a:pt x="1067489" y="137897"/>
                  </a:cubicBezTo>
                  <a:cubicBezTo>
                    <a:pt x="1052340" y="153046"/>
                    <a:pt x="1031794" y="161557"/>
                    <a:pt x="1010370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091149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1128" y="6152199"/>
            <a:ext cx="2306166" cy="613411"/>
            <a:chOff x="0" y="0"/>
            <a:chExt cx="607385" cy="1615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7385" cy="161557"/>
            </a:xfrm>
            <a:custGeom>
              <a:avLst/>
              <a:gdLst/>
              <a:ahLst/>
              <a:cxnLst/>
              <a:rect l="l" t="t" r="r" b="b"/>
              <a:pathLst>
                <a:path w="607385" h="161557">
                  <a:moveTo>
                    <a:pt x="80778" y="0"/>
                  </a:moveTo>
                  <a:lnTo>
                    <a:pt x="526607" y="0"/>
                  </a:lnTo>
                  <a:cubicBezTo>
                    <a:pt x="571220" y="0"/>
                    <a:pt x="607385" y="36166"/>
                    <a:pt x="607385" y="80778"/>
                  </a:cubicBezTo>
                  <a:lnTo>
                    <a:pt x="607385" y="80778"/>
                  </a:lnTo>
                  <a:cubicBezTo>
                    <a:pt x="607385" y="102202"/>
                    <a:pt x="598875" y="122749"/>
                    <a:pt x="583726" y="137897"/>
                  </a:cubicBezTo>
                  <a:cubicBezTo>
                    <a:pt x="568577" y="153046"/>
                    <a:pt x="548031" y="161557"/>
                    <a:pt x="526607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07385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1128" y="7046598"/>
            <a:ext cx="5382396" cy="641986"/>
            <a:chOff x="0" y="0"/>
            <a:chExt cx="1417586" cy="1690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17586" cy="169083"/>
            </a:xfrm>
            <a:custGeom>
              <a:avLst/>
              <a:gdLst/>
              <a:ahLst/>
              <a:cxnLst/>
              <a:rect l="l" t="t" r="r" b="b"/>
              <a:pathLst>
                <a:path w="1417586" h="169083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040466" y="491958"/>
            <a:ext cx="5063940" cy="701725"/>
          </a:xfrm>
          <a:custGeom>
            <a:avLst/>
            <a:gdLst/>
            <a:ahLst/>
            <a:cxnLst/>
            <a:rect l="l" t="t" r="r" b="b"/>
            <a:pathLst>
              <a:path w="5063940" h="701725">
                <a:moveTo>
                  <a:pt x="0" y="0"/>
                </a:moveTo>
                <a:lnTo>
                  <a:pt x="5063940" y="0"/>
                </a:lnTo>
                <a:lnTo>
                  <a:pt x="5063940" y="701725"/>
                </a:lnTo>
                <a:lnTo>
                  <a:pt x="0" y="701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3680" b="-92978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797895" y="180935"/>
            <a:ext cx="1288097" cy="1323772"/>
          </a:xfrm>
          <a:custGeom>
            <a:avLst/>
            <a:gdLst/>
            <a:ahLst/>
            <a:cxnLst/>
            <a:rect l="l" t="t" r="r" b="b"/>
            <a:pathLst>
              <a:path w="1288097" h="1323772">
                <a:moveTo>
                  <a:pt x="0" y="0"/>
                </a:moveTo>
                <a:lnTo>
                  <a:pt x="1288097" y="0"/>
                </a:lnTo>
                <a:lnTo>
                  <a:pt x="1288097" y="1323771"/>
                </a:lnTo>
                <a:lnTo>
                  <a:pt x="0" y="1323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75" t="-25223" r="-28835" b="-18316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83426" y="378579"/>
            <a:ext cx="3690501" cy="1185729"/>
          </a:xfrm>
          <a:custGeom>
            <a:avLst/>
            <a:gdLst/>
            <a:ahLst/>
            <a:cxnLst/>
            <a:rect l="l" t="t" r="r" b="b"/>
            <a:pathLst>
              <a:path w="3690501" h="1185729">
                <a:moveTo>
                  <a:pt x="0" y="0"/>
                </a:moveTo>
                <a:lnTo>
                  <a:pt x="3690501" y="0"/>
                </a:lnTo>
                <a:lnTo>
                  <a:pt x="3690501" y="1185729"/>
                </a:lnTo>
                <a:lnTo>
                  <a:pt x="0" y="11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0769" b="-7813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966719" y="336677"/>
            <a:ext cx="3036860" cy="1012287"/>
          </a:xfrm>
          <a:custGeom>
            <a:avLst/>
            <a:gdLst/>
            <a:ahLst/>
            <a:cxnLst/>
            <a:rect l="l" t="t" r="r" b="b"/>
            <a:pathLst>
              <a:path w="3036860" h="1012287">
                <a:moveTo>
                  <a:pt x="0" y="0"/>
                </a:moveTo>
                <a:lnTo>
                  <a:pt x="3036860" y="0"/>
                </a:lnTo>
                <a:lnTo>
                  <a:pt x="3036860" y="1012287"/>
                </a:lnTo>
                <a:lnTo>
                  <a:pt x="0" y="1012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4616339" y="228231"/>
            <a:ext cx="2192261" cy="1276152"/>
          </a:xfrm>
          <a:custGeom>
            <a:avLst/>
            <a:gdLst/>
            <a:ahLst/>
            <a:cxnLst/>
            <a:rect l="l" t="t" r="r" b="b"/>
            <a:pathLst>
              <a:path w="2192261" h="1276152">
                <a:moveTo>
                  <a:pt x="0" y="0"/>
                </a:moveTo>
                <a:lnTo>
                  <a:pt x="2192261" y="0"/>
                </a:lnTo>
                <a:lnTo>
                  <a:pt x="2192261" y="1276152"/>
                </a:lnTo>
                <a:lnTo>
                  <a:pt x="0" y="1276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6664" y="4265378"/>
            <a:ext cx="6711082" cy="569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Name:    </a:t>
            </a:r>
            <a:r>
              <a:rPr lang="en-US" sz="2800" b="1" dirty="0" err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AgentX</a:t>
            </a:r>
            <a:r>
              <a:rPr lang="en-US" sz="2800" b="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7468" y="5200650"/>
            <a:ext cx="8939932" cy="58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Lead Name:   </a:t>
            </a:r>
            <a:r>
              <a:rPr lang="en-US" sz="2800" b="1" dirty="0" err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Adithyan</a:t>
            </a:r>
            <a:r>
              <a:rPr lang="en-US" sz="2800" b="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540" y="6140817"/>
            <a:ext cx="7905266" cy="582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Track:       </a:t>
            </a:r>
            <a:r>
              <a:rPr lang="en-US" sz="2800" b="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Smart Education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6587" y="7042525"/>
            <a:ext cx="5016937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Statement title: </a:t>
            </a:r>
          </a:p>
        </p:txBody>
      </p:sp>
      <p:sp>
        <p:nvSpPr>
          <p:cNvPr id="101" name="Content 101"/>
          <p:cNvSpPr txBox="1"/>
          <p:nvPr/>
        </p:nvSpPr>
        <p:spPr>
          <a:xfrm>
            <a:off x="6150000" y="6930000"/>
            <a:ext cx="5800000" cy="9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AI-Based Interactive Quantum 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 Learning</a:t>
            </a:r>
          </a:p>
        </p:txBody>
      </p:sp>
      <p:sp>
        <p:nvSpPr>
          <p:cNvPr id="102" name="Content 102"/>
          <p:cNvSpPr txBox="1"/>
          <p:nvPr/>
        </p:nvSpPr>
        <p:spPr>
          <a:xfrm>
            <a:off x="491128" y="8350000"/>
            <a:ext cx="11300000" cy="11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 • Build • Simulate • Visualize • Get AI Feedback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Hackathon Solution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11399" y="1893761"/>
            <a:ext cx="3009085" cy="641986"/>
            <a:chOff x="0" y="0"/>
            <a:chExt cx="792516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92516" cy="169083"/>
            </a:xfrm>
            <a:custGeom>
              <a:avLst/>
              <a:gdLst/>
              <a:ahLst/>
              <a:cxnLst/>
              <a:rect l="l" t="t" r="r" b="b"/>
              <a:pathLst>
                <a:path w="792516" h="169083">
                  <a:moveTo>
                    <a:pt x="84541" y="0"/>
                  </a:moveTo>
                  <a:lnTo>
                    <a:pt x="707975" y="0"/>
                  </a:lnTo>
                  <a:cubicBezTo>
                    <a:pt x="730397" y="0"/>
                    <a:pt x="751900" y="8907"/>
                    <a:pt x="767755" y="24762"/>
                  </a:cubicBezTo>
                  <a:cubicBezTo>
                    <a:pt x="783609" y="40616"/>
                    <a:pt x="792516" y="62120"/>
                    <a:pt x="792516" y="84541"/>
                  </a:cubicBezTo>
                  <a:lnTo>
                    <a:pt x="792516" y="84541"/>
                  </a:lnTo>
                  <a:cubicBezTo>
                    <a:pt x="792516" y="106963"/>
                    <a:pt x="783609" y="128467"/>
                    <a:pt x="767755" y="144321"/>
                  </a:cubicBezTo>
                  <a:cubicBezTo>
                    <a:pt x="751900" y="160176"/>
                    <a:pt x="730397" y="169083"/>
                    <a:pt x="70797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9251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525717" y="8546310"/>
            <a:ext cx="1467166" cy="1525339"/>
            <a:chOff x="0" y="0"/>
            <a:chExt cx="3890124" cy="4044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90137" cy="4044315"/>
            </a:xfrm>
            <a:custGeom>
              <a:avLst/>
              <a:gdLst/>
              <a:ahLst/>
              <a:cxnLst/>
              <a:rect l="l" t="t" r="r" b="b"/>
              <a:pathLst>
                <a:path w="3890137" h="4044315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400800" y="1923006"/>
            <a:ext cx="4832061" cy="504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3" name="Content 103"/>
          <p:cNvSpPr txBox="1"/>
          <p:nvPr/>
        </p:nvSpPr>
        <p:spPr>
          <a:xfrm>
            <a:off x="1900000" y="3150000"/>
            <a:ext cx="14500000" cy="4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computing is difficult for beginners to understand.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Students often depend on theory, mathematical formulas, and static examples.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Concepts such as superposition, entanglement, and quantum gates are difficult to visualize.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Students lack an interactive environment to build circuits, experiment, and learn from mistakes.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There is a need for simple, hands-on learning with instant guidance.</a:t>
            </a:r>
          </a:p>
        </p:txBody>
      </p:sp>
      <p:sp>
        <p:nvSpPr>
          <p:cNvPr id="104" name="Card 104"/>
          <p:cNvSpPr/>
          <p:nvPr/>
        </p:nvSpPr>
        <p:spPr>
          <a:xfrm>
            <a:off x="1900000" y="7250000"/>
            <a:ext cx="14500000" cy="190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6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Core Problem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 quantum algorithms is often theory-heavy and lacks interactive, personalized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93915" y="1893761"/>
            <a:ext cx="3272797" cy="641986"/>
            <a:chOff x="0" y="0"/>
            <a:chExt cx="861971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1971" cy="169083"/>
            </a:xfrm>
            <a:custGeom>
              <a:avLst/>
              <a:gdLst/>
              <a:ahLst/>
              <a:cxnLst/>
              <a:rect l="l" t="t" r="r" b="b"/>
              <a:pathLst>
                <a:path w="861971" h="169083">
                  <a:moveTo>
                    <a:pt x="84541" y="0"/>
                  </a:moveTo>
                  <a:lnTo>
                    <a:pt x="777430" y="0"/>
                  </a:lnTo>
                  <a:cubicBezTo>
                    <a:pt x="799852" y="0"/>
                    <a:pt x="821355" y="8907"/>
                    <a:pt x="837210" y="24762"/>
                  </a:cubicBezTo>
                  <a:cubicBezTo>
                    <a:pt x="853064" y="40616"/>
                    <a:pt x="861971" y="62120"/>
                    <a:pt x="861971" y="84541"/>
                  </a:cubicBezTo>
                  <a:lnTo>
                    <a:pt x="861971" y="84541"/>
                  </a:lnTo>
                  <a:cubicBezTo>
                    <a:pt x="861971" y="106963"/>
                    <a:pt x="853064" y="128467"/>
                    <a:pt x="837210" y="144321"/>
                  </a:cubicBezTo>
                  <a:cubicBezTo>
                    <a:pt x="821355" y="160176"/>
                    <a:pt x="799852" y="169083"/>
                    <a:pt x="777430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61971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200432" y="8538631"/>
            <a:ext cx="1365659" cy="1173861"/>
            <a:chOff x="0" y="0"/>
            <a:chExt cx="4028567" cy="34627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3462782"/>
            </a:xfrm>
            <a:custGeom>
              <a:avLst/>
              <a:gdLst/>
              <a:ahLst/>
              <a:cxnLst/>
              <a:rect l="l" t="t" r="r" b="b"/>
              <a:pathLst>
                <a:path w="4028567" h="3462782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5605864" y="1956879"/>
            <a:ext cx="6048897" cy="444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It Matters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5" name="Card 105"/>
          <p:cNvSpPr/>
          <p:nvPr/>
        </p:nvSpPr>
        <p:spPr>
          <a:xfrm>
            <a:off x="1900000" y="2950000"/>
            <a:ext cx="7100000" cy="21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Beginners learning Quantum Computing and aspiring quantum developers.</a:t>
            </a:r>
          </a:p>
        </p:txBody>
      </p:sp>
      <p:sp>
        <p:nvSpPr>
          <p:cNvPr id="106" name="Card 106"/>
          <p:cNvSpPr/>
          <p:nvPr/>
        </p:nvSpPr>
        <p:spPr>
          <a:xfrm>
            <a:off x="9300000" y="2950000"/>
            <a:ext cx="7100000" cy="21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Educators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Teachers and colleges introducing quantum computing courses.</a:t>
            </a:r>
          </a:p>
        </p:txBody>
      </p:sp>
      <p:sp>
        <p:nvSpPr>
          <p:cNvPr id="107" name="Content 107"/>
          <p:cNvSpPr txBox="1"/>
          <p:nvPr/>
        </p:nvSpPr>
        <p:spPr>
          <a:xfrm>
            <a:off x="1900000" y="5450000"/>
            <a:ext cx="14500000" cy="3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Important?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technology is emerging rapidly, but complex theory creates a steep learning barrier.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Lack of practical tools limits hands-on learning and experimentation.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 and interactive learning can make abstract concepts easier to explore.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goal: make Quantum Computing easier to learn, practice, and understand.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71046" y="1893760"/>
            <a:ext cx="4895620" cy="756239"/>
            <a:chOff x="0" y="0"/>
            <a:chExt cx="1056723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6723" cy="169083"/>
            </a:xfrm>
            <a:custGeom>
              <a:avLst/>
              <a:gdLst/>
              <a:ahLst/>
              <a:cxnLst/>
              <a:rect l="l" t="t" r="r" b="b"/>
              <a:pathLst>
                <a:path w="1056723" h="169083">
                  <a:moveTo>
                    <a:pt x="84541" y="0"/>
                  </a:moveTo>
                  <a:lnTo>
                    <a:pt x="972181" y="0"/>
                  </a:lnTo>
                  <a:cubicBezTo>
                    <a:pt x="994603" y="0"/>
                    <a:pt x="1016106" y="8907"/>
                    <a:pt x="1031961" y="24762"/>
                  </a:cubicBezTo>
                  <a:cubicBezTo>
                    <a:pt x="1047816" y="40616"/>
                    <a:pt x="1056723" y="62120"/>
                    <a:pt x="1056723" y="84541"/>
                  </a:cubicBezTo>
                  <a:lnTo>
                    <a:pt x="1056723" y="84541"/>
                  </a:lnTo>
                  <a:cubicBezTo>
                    <a:pt x="1056723" y="106963"/>
                    <a:pt x="1047816" y="128467"/>
                    <a:pt x="1031961" y="144321"/>
                  </a:cubicBezTo>
                  <a:cubicBezTo>
                    <a:pt x="1016106" y="160176"/>
                    <a:pt x="994603" y="169083"/>
                    <a:pt x="97218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056723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38528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002189" y="2028868"/>
            <a:ext cx="4633333" cy="487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Solution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8" name="Card 108"/>
          <p:cNvSpPr/>
          <p:nvPr/>
        </p:nvSpPr>
        <p:spPr>
          <a:xfrm>
            <a:off x="1900000" y="2950000"/>
            <a:ext cx="4633333" cy="21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Quantum Tutor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Explains concepts in simple language and provides step-by-step guidance.</a:t>
            </a:r>
          </a:p>
        </p:txBody>
      </p:sp>
      <p:sp>
        <p:nvSpPr>
          <p:cNvPr id="109" name="Card 109"/>
          <p:cNvSpPr/>
          <p:nvPr/>
        </p:nvSpPr>
        <p:spPr>
          <a:xfrm>
            <a:off x="6833333" y="2950000"/>
            <a:ext cx="4633333" cy="21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Circuit Builder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Students create quantum circuits using gates such as H, X, Z and CNOT.</a:t>
            </a:r>
          </a:p>
        </p:txBody>
      </p:sp>
      <p:sp>
        <p:nvSpPr>
          <p:cNvPr id="110" name="Card 110"/>
          <p:cNvSpPr/>
          <p:nvPr/>
        </p:nvSpPr>
        <p:spPr>
          <a:xfrm>
            <a:off x="11766666" y="2950000"/>
            <a:ext cx="4633333" cy="21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Simulator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Runs circuits and displays measurement results and probabilities.</a:t>
            </a:r>
          </a:p>
        </p:txBody>
      </p:sp>
      <p:sp>
        <p:nvSpPr>
          <p:cNvPr id="111" name="Card 111"/>
          <p:cNvSpPr/>
          <p:nvPr/>
        </p:nvSpPr>
        <p:spPr>
          <a:xfrm>
            <a:off x="1900000" y="5350000"/>
            <a:ext cx="4633333" cy="21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Error Detection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Identifies common mistakes and provides helpful hints.</a:t>
            </a:r>
          </a:p>
        </p:txBody>
      </p:sp>
      <p:sp>
        <p:nvSpPr>
          <p:cNvPr id="112" name="Card 112"/>
          <p:cNvSpPr/>
          <p:nvPr/>
        </p:nvSpPr>
        <p:spPr>
          <a:xfrm>
            <a:off x="6833333" y="5350000"/>
            <a:ext cx="4633333" cy="21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 Learning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probability graphs and circuit visualizations make results understandable.</a:t>
            </a:r>
          </a:p>
        </p:txBody>
      </p:sp>
      <p:sp>
        <p:nvSpPr>
          <p:cNvPr id="113" name="Card 113"/>
          <p:cNvSpPr/>
          <p:nvPr/>
        </p:nvSpPr>
        <p:spPr>
          <a:xfrm>
            <a:off x="11766666" y="5350000"/>
            <a:ext cx="4633333" cy="21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Personalized Challenges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Challenges adapt to beginner, intermediate, and advanced learners.</a:t>
            </a:r>
          </a:p>
        </p:txBody>
      </p:sp>
      <p:sp>
        <p:nvSpPr>
          <p:cNvPr id="114" name="Card 114"/>
          <p:cNvSpPr/>
          <p:nvPr/>
        </p:nvSpPr>
        <p:spPr>
          <a:xfrm>
            <a:off x="1900000" y="7750000"/>
            <a:ext cx="1450000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Learning Flow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 → Build → Simulate → Visualize → Get AI Feedback → Improve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06921" y="1893761"/>
            <a:ext cx="3533419" cy="641986"/>
            <a:chOff x="0" y="0"/>
            <a:chExt cx="930612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0612" cy="169083"/>
            </a:xfrm>
            <a:custGeom>
              <a:avLst/>
              <a:gdLst/>
              <a:ahLst/>
              <a:cxnLst/>
              <a:rect l="l" t="t" r="r" b="b"/>
              <a:pathLst>
                <a:path w="930612" h="169083">
                  <a:moveTo>
                    <a:pt x="84541" y="0"/>
                  </a:moveTo>
                  <a:lnTo>
                    <a:pt x="846071" y="0"/>
                  </a:lnTo>
                  <a:cubicBezTo>
                    <a:pt x="868493" y="0"/>
                    <a:pt x="889996" y="8907"/>
                    <a:pt x="905851" y="24762"/>
                  </a:cubicBezTo>
                  <a:cubicBezTo>
                    <a:pt x="921705" y="40616"/>
                    <a:pt x="930612" y="62120"/>
                    <a:pt x="930612" y="84541"/>
                  </a:cubicBezTo>
                  <a:lnTo>
                    <a:pt x="930612" y="84541"/>
                  </a:lnTo>
                  <a:cubicBezTo>
                    <a:pt x="930612" y="106963"/>
                    <a:pt x="921705" y="128467"/>
                    <a:pt x="905851" y="144321"/>
                  </a:cubicBezTo>
                  <a:cubicBezTo>
                    <a:pt x="889996" y="160176"/>
                    <a:pt x="868493" y="169083"/>
                    <a:pt x="84607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30612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135716" y="-2857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525717" y="8546310"/>
            <a:ext cx="1467166" cy="1525339"/>
            <a:chOff x="0" y="0"/>
            <a:chExt cx="3890124" cy="4044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90137" cy="4044315"/>
            </a:xfrm>
            <a:custGeom>
              <a:avLst/>
              <a:gdLst/>
              <a:ahLst/>
              <a:cxnLst/>
              <a:rect l="l" t="t" r="r" b="b"/>
              <a:pathLst>
                <a:path w="3890137" h="4044315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5747170" y="1979270"/>
            <a:ext cx="5852920" cy="444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Quantum?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5" name="Content 115"/>
          <p:cNvSpPr txBox="1"/>
          <p:nvPr/>
        </p:nvSpPr>
        <p:spPr>
          <a:xfrm>
            <a:off x="1900000" y="3100000"/>
            <a:ext cx="14500000" cy="3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5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algorithms are difficult to understand through theory alone.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5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Superposition, entanglement, and quantum gates become clearer through visualization and experimentation.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5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simulators allow students to experiment without requiring physical quantum hardware.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5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Students can immediately observe how changing a circuit changes its output.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5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adds personalized explanations and feedback on top of the quantum learning experience.</a:t>
            </a:r>
          </a:p>
        </p:txBody>
      </p:sp>
      <p:sp>
        <p:nvSpPr>
          <p:cNvPr id="116" name="Card 116"/>
          <p:cNvSpPr/>
          <p:nvPr/>
        </p:nvSpPr>
        <p:spPr>
          <a:xfrm>
            <a:off x="1900000" y="7250000"/>
            <a:ext cx="14500000" cy="180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5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+ AI = Interactive Learning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3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provides circuits, algorithms and simulations. AI provides explanations, hints and personalized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97750" y="1893761"/>
            <a:ext cx="5382396" cy="641986"/>
            <a:chOff x="0" y="0"/>
            <a:chExt cx="1417586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7586" cy="169083"/>
            </a:xfrm>
            <a:custGeom>
              <a:avLst/>
              <a:gdLst/>
              <a:ahLst/>
              <a:cxnLst/>
              <a:rect l="l" t="t" r="r" b="b"/>
              <a:pathLst>
                <a:path w="1417586" h="169083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298992" y="1988059"/>
            <a:ext cx="4566285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Implementation and Architecture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7" name="Content 117"/>
          <p:cNvSpPr txBox="1"/>
          <p:nvPr/>
        </p:nvSpPr>
        <p:spPr>
          <a:xfrm>
            <a:off x="1900000" y="2850000"/>
            <a:ext cx="14500000" cy="4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Architecture + technology stack</a:t>
            </a:r>
          </a:p>
        </p:txBody>
      </p:sp>
      <p:sp>
        <p:nvSpPr>
          <p:cNvPr id="118" name="Card 118"/>
          <p:cNvSpPr/>
          <p:nvPr/>
        </p:nvSpPr>
        <p:spPr>
          <a:xfrm>
            <a:off x="1900000" y="3450000"/>
            <a:ext cx="3400000" cy="17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Frontend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 • HTML • CSS • JavaScript</a:t>
            </a:r>
          </a:p>
        </p:txBody>
      </p:sp>
      <p:sp>
        <p:nvSpPr>
          <p:cNvPr id="119" name="Card 119"/>
          <p:cNvSpPr/>
          <p:nvPr/>
        </p:nvSpPr>
        <p:spPr>
          <a:xfrm>
            <a:off x="5600000" y="3450000"/>
            <a:ext cx="3400000" cy="17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Backend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Python • FastAPI</a:t>
            </a:r>
          </a:p>
        </p:txBody>
      </p:sp>
      <p:sp>
        <p:nvSpPr>
          <p:cNvPr id="120" name="Card 120"/>
          <p:cNvSpPr/>
          <p:nvPr/>
        </p:nvSpPr>
        <p:spPr>
          <a:xfrm>
            <a:off x="9300000" y="3450000"/>
            <a:ext cx="3400000" cy="17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AI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LLM-based AI Tutor</a:t>
            </a:r>
          </a:p>
        </p:txBody>
      </p:sp>
      <p:sp>
        <p:nvSpPr>
          <p:cNvPr id="121" name="Card 121"/>
          <p:cNvSpPr/>
          <p:nvPr/>
        </p:nvSpPr>
        <p:spPr>
          <a:xfrm>
            <a:off x="13000000" y="3450000"/>
            <a:ext cx="3400000" cy="17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Qiskit • Simulator</a:t>
            </a:r>
          </a:p>
        </p:txBody>
      </p:sp>
      <p:sp>
        <p:nvSpPr>
          <p:cNvPr id="122" name="Content 122"/>
          <p:cNvSpPr txBox="1"/>
          <p:nvPr/>
        </p:nvSpPr>
        <p:spPr>
          <a:xfrm>
            <a:off x="1900000" y="5550000"/>
            <a:ext cx="14500000" cy="3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Quantum components: </a:t>
            </a: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qubits, gates, circuit builder, algorithm simulation, measurement and probability visualization.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Classical components: </a:t>
            </a: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user interface, AI guidance, error analysis, challenges, progress tracking and database.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6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Flow: </a:t>
            </a:r>
            <a:r>
              <a:rPr lang="en-US" sz="26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Student → Web Interface → AI Tutor → Backend → Quantum Simulator → Results → AI Feedback → Student.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68820" y="1903286"/>
            <a:ext cx="4633333" cy="746714"/>
            <a:chOff x="0" y="0"/>
            <a:chExt cx="1033811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3811" cy="169083"/>
            </a:xfrm>
            <a:custGeom>
              <a:avLst/>
              <a:gdLst/>
              <a:ahLst/>
              <a:cxnLst/>
              <a:rect l="l" t="t" r="r" b="b"/>
              <a:pathLst>
                <a:path w="1033811" h="169083">
                  <a:moveTo>
                    <a:pt x="84541" y="0"/>
                  </a:moveTo>
                  <a:lnTo>
                    <a:pt x="949269" y="0"/>
                  </a:lnTo>
                  <a:cubicBezTo>
                    <a:pt x="971691" y="0"/>
                    <a:pt x="993195" y="8907"/>
                    <a:pt x="1009049" y="24762"/>
                  </a:cubicBezTo>
                  <a:cubicBezTo>
                    <a:pt x="1024904" y="40616"/>
                    <a:pt x="1033811" y="62120"/>
                    <a:pt x="1033811" y="84541"/>
                  </a:cubicBezTo>
                  <a:lnTo>
                    <a:pt x="1033811" y="84541"/>
                  </a:lnTo>
                  <a:cubicBezTo>
                    <a:pt x="1033811" y="106963"/>
                    <a:pt x="1024904" y="128467"/>
                    <a:pt x="1009049" y="144321"/>
                  </a:cubicBezTo>
                  <a:cubicBezTo>
                    <a:pt x="993195" y="160176"/>
                    <a:pt x="971691" y="169083"/>
                    <a:pt x="949269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033811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279665" y="2015345"/>
            <a:ext cx="4104277" cy="456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Minimal Prototype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3" name="Card 123"/>
          <p:cNvSpPr/>
          <p:nvPr/>
        </p:nvSpPr>
        <p:spPr>
          <a:xfrm>
            <a:off x="1900000" y="2950000"/>
            <a:ext cx="4633333" cy="22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Interactive Circuit Builder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prototype interface for creating circuits using basic quantum gates.</a:t>
            </a:r>
          </a:p>
        </p:txBody>
      </p:sp>
      <p:sp>
        <p:nvSpPr>
          <p:cNvPr id="124" name="Card 124"/>
          <p:cNvSpPr/>
          <p:nvPr/>
        </p:nvSpPr>
        <p:spPr>
          <a:xfrm>
            <a:off x="6833333" y="2950000"/>
            <a:ext cx="4633333" cy="22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Qiskit Simulation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Circuit execution through a quantum simulator and measurement output.</a:t>
            </a:r>
          </a:p>
        </p:txBody>
      </p:sp>
      <p:sp>
        <p:nvSpPr>
          <p:cNvPr id="125" name="Card 125"/>
          <p:cNvSpPr/>
          <p:nvPr/>
        </p:nvSpPr>
        <p:spPr>
          <a:xfrm>
            <a:off x="11766666" y="2950000"/>
            <a:ext cx="4633333" cy="22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 Visualization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Probability distributions help learners see the effect of their circuit.</a:t>
            </a:r>
          </a:p>
        </p:txBody>
      </p:sp>
      <p:sp>
        <p:nvSpPr>
          <p:cNvPr id="126" name="Card 126"/>
          <p:cNvSpPr/>
          <p:nvPr/>
        </p:nvSpPr>
        <p:spPr>
          <a:xfrm>
            <a:off x="1900000" y="5450000"/>
            <a:ext cx="7100000" cy="19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Learning Layer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Tutor guidance, hints, circuit feedback and challenge-based learning.</a:t>
            </a:r>
          </a:p>
        </p:txBody>
      </p:sp>
      <p:sp>
        <p:nvSpPr>
          <p:cNvPr id="127" name="Card 127"/>
          <p:cNvSpPr/>
          <p:nvPr/>
        </p:nvSpPr>
        <p:spPr>
          <a:xfrm>
            <a:off x="9300000" y="5450000"/>
            <a:ext cx="7100000" cy="19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Bell State Demo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 H + CNOT → simulate → observe correlated measurement outcomes → understand entanglement.</a:t>
            </a:r>
          </a:p>
        </p:txBody>
      </p:sp>
      <p:sp>
        <p:nvSpPr>
          <p:cNvPr id="128" name="Card 128"/>
          <p:cNvSpPr/>
          <p:nvPr/>
        </p:nvSpPr>
        <p:spPr>
          <a:xfrm>
            <a:off x="1900000" y="7700000"/>
            <a:ext cx="14500000" cy="135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MVP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Circuit Builder + Qiskit Simulator + Visualization + AI Tutor + Learning Challenge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45032" y="1893760"/>
            <a:ext cx="3699167" cy="643239"/>
            <a:chOff x="0" y="0"/>
            <a:chExt cx="917149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7149" cy="169083"/>
            </a:xfrm>
            <a:custGeom>
              <a:avLst/>
              <a:gdLst/>
              <a:ahLst/>
              <a:cxnLst/>
              <a:rect l="l" t="t" r="r" b="b"/>
              <a:pathLst>
                <a:path w="917149" h="169083">
                  <a:moveTo>
                    <a:pt x="84541" y="0"/>
                  </a:moveTo>
                  <a:lnTo>
                    <a:pt x="832608" y="0"/>
                  </a:lnTo>
                  <a:cubicBezTo>
                    <a:pt x="855029" y="0"/>
                    <a:pt x="876533" y="8907"/>
                    <a:pt x="892387" y="24762"/>
                  </a:cubicBezTo>
                  <a:cubicBezTo>
                    <a:pt x="908242" y="40616"/>
                    <a:pt x="917149" y="62120"/>
                    <a:pt x="917149" y="84541"/>
                  </a:cubicBezTo>
                  <a:lnTo>
                    <a:pt x="917149" y="84541"/>
                  </a:lnTo>
                  <a:cubicBezTo>
                    <a:pt x="917149" y="106963"/>
                    <a:pt x="908242" y="128467"/>
                    <a:pt x="892387" y="144321"/>
                  </a:cubicBezTo>
                  <a:cubicBezTo>
                    <a:pt x="876533" y="160176"/>
                    <a:pt x="855029" y="169083"/>
                    <a:pt x="83260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17149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90903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6679432" y="1982751"/>
            <a:ext cx="4641135" cy="397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Results / Validation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9" name="Card 129"/>
          <p:cNvSpPr/>
          <p:nvPr/>
        </p:nvSpPr>
        <p:spPr>
          <a:xfrm>
            <a:off x="1900000" y="2950000"/>
            <a:ext cx="7100000" cy="26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6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Expected Outcomes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Make quantum algorithms easier to understand; enable hands-on experimentation; provide instant AI guidance; improve visual learning.</a:t>
            </a:r>
          </a:p>
        </p:txBody>
      </p:sp>
      <p:sp>
        <p:nvSpPr>
          <p:cNvPr id="130" name="Card 130"/>
          <p:cNvSpPr/>
          <p:nvPr/>
        </p:nvSpPr>
        <p:spPr>
          <a:xfrm>
            <a:off x="9300000" y="2950000"/>
            <a:ext cx="7100000" cy="260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6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Validation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Tested the learning workflow, quantum circuit creation, Qiskit simulation, probability visualization, and Bell State experiment.</a:t>
            </a:r>
          </a:p>
        </p:txBody>
      </p:sp>
      <p:sp>
        <p:nvSpPr>
          <p:cNvPr id="131" name="Content 131"/>
          <p:cNvSpPr txBox="1"/>
          <p:nvPr/>
        </p:nvSpPr>
        <p:spPr>
          <a:xfrm>
            <a:off x="1900000" y="5850000"/>
            <a:ext cx="14500000" cy="1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Observation: interactive simulation and visual feedback provide a more practical way to explore abstract quantum concepts.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prototype demonstrates the feasibility of combining AI guidance with quantum simulation in one learning platform.</a:t>
            </a:r>
          </a:p>
        </p:txBody>
      </p:sp>
      <p:sp>
        <p:nvSpPr>
          <p:cNvPr id="132" name="Card 132"/>
          <p:cNvSpPr/>
          <p:nvPr/>
        </p:nvSpPr>
        <p:spPr>
          <a:xfrm>
            <a:off x="1900000" y="7950000"/>
            <a:ext cx="1450000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Impact Flow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Learn → Experiment → Visualize → Get Feedback → Improve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78954" y="1903956"/>
            <a:ext cx="2642092" cy="641986"/>
            <a:chOff x="0" y="0"/>
            <a:chExt cx="695860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5860" cy="169083"/>
            </a:xfrm>
            <a:custGeom>
              <a:avLst/>
              <a:gdLst/>
              <a:ahLst/>
              <a:cxnLst/>
              <a:rect l="l" t="t" r="r" b="b"/>
              <a:pathLst>
                <a:path w="695860" h="169083">
                  <a:moveTo>
                    <a:pt x="84541" y="0"/>
                  </a:moveTo>
                  <a:lnTo>
                    <a:pt x="611318" y="0"/>
                  </a:lnTo>
                  <a:cubicBezTo>
                    <a:pt x="633740" y="0"/>
                    <a:pt x="655243" y="8907"/>
                    <a:pt x="671098" y="24762"/>
                  </a:cubicBezTo>
                  <a:cubicBezTo>
                    <a:pt x="686953" y="40616"/>
                    <a:pt x="695860" y="62120"/>
                    <a:pt x="695860" y="84541"/>
                  </a:cubicBezTo>
                  <a:lnTo>
                    <a:pt x="695860" y="84541"/>
                  </a:lnTo>
                  <a:cubicBezTo>
                    <a:pt x="695860" y="106963"/>
                    <a:pt x="686953" y="128467"/>
                    <a:pt x="671098" y="144321"/>
                  </a:cubicBezTo>
                  <a:cubicBezTo>
                    <a:pt x="655243" y="160176"/>
                    <a:pt x="633740" y="169083"/>
                    <a:pt x="61131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95860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990242" y="-23683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200432" y="8538631"/>
            <a:ext cx="1365659" cy="1173861"/>
            <a:chOff x="0" y="0"/>
            <a:chExt cx="4028567" cy="34627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3462782"/>
            </a:xfrm>
            <a:custGeom>
              <a:avLst/>
              <a:gdLst/>
              <a:ahLst/>
              <a:cxnLst/>
              <a:rect l="l" t="t" r="r" b="b"/>
              <a:pathLst>
                <a:path w="4028567" h="3462782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8406804" y="2002257"/>
            <a:ext cx="1853723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Roadmap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3" name="Card 133"/>
          <p:cNvSpPr/>
          <p:nvPr/>
        </p:nvSpPr>
        <p:spPr>
          <a:xfrm>
            <a:off x="1900000" y="2950000"/>
            <a:ext cx="3400000" cy="280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1 • Improve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Polished circuit builder, more gates and algorithms, stronger AI tutor.</a:t>
            </a:r>
          </a:p>
        </p:txBody>
      </p:sp>
      <p:sp>
        <p:nvSpPr>
          <p:cNvPr id="134" name="Card 134"/>
          <p:cNvSpPr/>
          <p:nvPr/>
        </p:nvSpPr>
        <p:spPr>
          <a:xfrm>
            <a:off x="5600000" y="2950000"/>
            <a:ext cx="3400000" cy="280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2 • Expand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Quizzes, levels, progress tracking, What-If mode and personalized paths.</a:t>
            </a:r>
          </a:p>
        </p:txBody>
      </p:sp>
      <p:sp>
        <p:nvSpPr>
          <p:cNvPr id="135" name="Card 135"/>
          <p:cNvSpPr/>
          <p:nvPr/>
        </p:nvSpPr>
        <p:spPr>
          <a:xfrm>
            <a:off x="9300000" y="2950000"/>
            <a:ext cx="3400000" cy="280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3 • Validate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 with students; measure usability, understanding and learning outcomes.</a:t>
            </a:r>
          </a:p>
        </p:txBody>
      </p:sp>
      <p:sp>
        <p:nvSpPr>
          <p:cNvPr id="136" name="Card 136"/>
          <p:cNvSpPr/>
          <p:nvPr/>
        </p:nvSpPr>
        <p:spPr>
          <a:xfrm>
            <a:off x="13000000" y="2950000"/>
            <a:ext cx="3400000" cy="2800000"/>
          </a:xfrm>
          <a:prstGeom prst="roundRect">
            <a:avLst>
              <a:gd name="adj" fmla="val 9000"/>
            </a:avLst>
          </a:prstGeom>
          <a:solidFill>
            <a:srgbClr val="FA7CB5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4 • Scale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Support larger circuits, more algorithms, multiple users and institution dashboards.</a:t>
            </a:r>
          </a:p>
        </p:txBody>
      </p:sp>
      <p:sp>
        <p:nvSpPr>
          <p:cNvPr id="137" name="Content 137"/>
          <p:cNvSpPr txBox="1"/>
          <p:nvPr/>
        </p:nvSpPr>
        <p:spPr>
          <a:xfrm>
            <a:off x="1900000" y="6150000"/>
            <a:ext cx="14500000" cy="3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Integrate cloud access to real quantum hardware for advanced experimentation.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 AI-generated learning paths, real-time collaboration and multilingual support.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 learner analytics to identify knowledge gaps and recommend improvements.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75310" y="1893761"/>
            <a:ext cx="4381968" cy="641986"/>
            <a:chOff x="0" y="0"/>
            <a:chExt cx="1154099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54099" cy="169083"/>
            </a:xfrm>
            <a:custGeom>
              <a:avLst/>
              <a:gdLst/>
              <a:ahLst/>
              <a:cxnLst/>
              <a:rect l="l" t="t" r="r" b="b"/>
              <a:pathLst>
                <a:path w="1154099" h="169083">
                  <a:moveTo>
                    <a:pt x="84541" y="0"/>
                  </a:moveTo>
                  <a:lnTo>
                    <a:pt x="1069557" y="0"/>
                  </a:lnTo>
                  <a:cubicBezTo>
                    <a:pt x="1091979" y="0"/>
                    <a:pt x="1113482" y="8907"/>
                    <a:pt x="1129337" y="24762"/>
                  </a:cubicBezTo>
                  <a:cubicBezTo>
                    <a:pt x="1145192" y="40616"/>
                    <a:pt x="1154099" y="62120"/>
                    <a:pt x="1154099" y="84541"/>
                  </a:cubicBezTo>
                  <a:lnTo>
                    <a:pt x="1154099" y="84541"/>
                  </a:lnTo>
                  <a:cubicBezTo>
                    <a:pt x="1154099" y="106963"/>
                    <a:pt x="1145192" y="128467"/>
                    <a:pt x="1129337" y="144321"/>
                  </a:cubicBezTo>
                  <a:cubicBezTo>
                    <a:pt x="1113482" y="160176"/>
                    <a:pt x="1091979" y="169083"/>
                    <a:pt x="1069557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154099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90903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6580168" y="2030832"/>
            <a:ext cx="4572251" cy="362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 and Sources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8" name="Content 138"/>
          <p:cNvSpPr txBox="1"/>
          <p:nvPr/>
        </p:nvSpPr>
        <p:spPr>
          <a:xfrm>
            <a:off x="1900000" y="3050000"/>
            <a:ext cx="14500000" cy="2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IBM Quantum Learning</a:t>
            </a: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quantum computing concepts, circuits and algorithms.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Qiskit Documentation</a:t>
            </a: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quantum circuit creation, execution and simulation.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Qiskit Learning Resources / Textbook</a:t>
            </a: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practical quantum algorithms and examples.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 Quantum Physics</a:t>
            </a: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research papers used to understand quantum computing and algorithms.</a:t>
            </a:r>
          </a:p>
          <a:p>
            <a:pPr marL="400000" indent="-400000"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LLM / AI documentation</a:t>
            </a:r>
            <a:r>
              <a:rPr lang="en-US" sz="22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guidance for designing the AI tutor and feedback workflow.</a:t>
            </a:r>
          </a:p>
        </p:txBody>
      </p:sp>
      <p:sp>
        <p:nvSpPr>
          <p:cNvPr id="139" name="Card 139"/>
          <p:cNvSpPr/>
          <p:nvPr/>
        </p:nvSpPr>
        <p:spPr>
          <a:xfrm>
            <a:off x="1900000" y="5950000"/>
            <a:ext cx="7100000" cy="30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Accessible References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IBM Quantum: quantum.ibm.com/learning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Qiskit: docs.quantum.ibm.com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Qiskit GitHub: github.com/Qiskit/qiskit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arXiv: arxiv.org/list/quant-ph</a:t>
            </a:r>
          </a:p>
        </p:txBody>
      </p:sp>
      <p:sp>
        <p:nvSpPr>
          <p:cNvPr id="140" name="Card 140"/>
          <p:cNvSpPr/>
          <p:nvPr/>
        </p:nvSpPr>
        <p:spPr>
          <a:xfrm>
            <a:off x="9300000" y="5950000"/>
            <a:ext cx="7100000" cy="30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260000" tIns="260000" rIns="260000" bIns="26000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Originality</a:t>
            </a:r>
          </a:p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Inspired by existing quantum learning resources and open-source tools. The proposed AI tutoring workflow, interactive learning experience and overall integration are our own implementation. We do not directly copy or fork another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917</Words>
  <Application>Microsoft Office PowerPoint</Application>
  <PresentationFormat>Custom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IBM Plex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Q-Hack_India26</dc:title>
  <dc:creator>Home</dc:creator>
  <cp:lastModifiedBy>sharmilap430@gmail.com</cp:lastModifiedBy>
  <cp:revision>7</cp:revision>
  <dcterms:created xsi:type="dcterms:W3CDTF">2006-08-16T00:00:00Z</dcterms:created>
  <dcterms:modified xsi:type="dcterms:W3CDTF">2026-10-08T17:23:50Z</dcterms:modified>
  <dc:identifier>DAHXTzYcYI8</dc:identifier>
</cp:coreProperties>
</file>